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1468847-C7B3-47E9-A920-8BC01F9EB545}">
          <p14:sldIdLst>
            <p14:sldId id="256"/>
            <p14:sldId id="257"/>
            <p14:sldId id="258"/>
          </p14:sldIdLst>
        </p14:section>
        <p14:section name="Untitled Section" id="{02F1F378-D26A-4565-992B-2F09538172A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070" y="-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M GoD" userId="f736138db3e96b91" providerId="LiveId" clId="{3640DE37-A6E6-4090-A737-A2DFD10491D9}"/>
    <pc:docChg chg="delSld modSection">
      <pc:chgData name="MsM GoD" userId="f736138db3e96b91" providerId="LiveId" clId="{3640DE37-A6E6-4090-A737-A2DFD10491D9}" dt="2026-07-29T04:43:29.972" v="0" actId="47"/>
      <pc:docMkLst>
        <pc:docMk/>
      </pc:docMkLst>
      <pc:sldChg chg="del">
        <pc:chgData name="MsM GoD" userId="f736138db3e96b91" providerId="LiveId" clId="{3640DE37-A6E6-4090-A737-A2DFD10491D9}" dt="2026-07-29T04:43:29.972" v="0" actId="47"/>
        <pc:sldMkLst>
          <pc:docMk/>
          <pc:sldMk cId="3204288208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95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2B134"/>
                </a:solidFill>
                <a:latin typeface="Eras Bold ITC" panose="020B0907030504020204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>
              <a:latin typeface="Eras Bold ITC" panose="020B0907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Eras Bold ITC" panose="020B0907030504020204" pitchFamily="34" charset="0"/>
                <a:ea typeface="Cambria" pitchFamily="34" charset="-122"/>
                <a:cs typeface="Cambria" pitchFamily="34" charset="-120"/>
              </a:rPr>
              <a:t>Concept Learning &amp; Version Spaces</a:t>
            </a:r>
            <a:endParaRPr lang="en-US" sz="4000" dirty="0">
              <a:latin typeface="Eras Bold ITC" panose="020B090703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Eras Bold ITC" panose="020B0907030504020204" pitchFamily="34" charset="0"/>
                <a:ea typeface="Calibri" pitchFamily="34" charset="-122"/>
                <a:cs typeface="Calibri" pitchFamily="34" charset="-120"/>
              </a:rPr>
              <a:t>Hypothesis Representation  •  General-to-Specific Ordering  •  Candidate Elimination</a:t>
            </a:r>
            <a:endParaRPr lang="en-US" sz="1600" dirty="0">
              <a:latin typeface="Eras Bold ITC" panose="020B0907030504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Eras Demi ITC" panose="020B0805030504020804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300" dirty="0">
              <a:latin typeface="Eras Demi ITC" panose="020B08050305040208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9ED91-3483-0F0F-500E-4B6CCF8ED20A}"/>
              </a:ext>
            </a:extLst>
          </p:cNvPr>
          <p:cNvSpPr txBox="1"/>
          <p:nvPr/>
        </p:nvSpPr>
        <p:spPr>
          <a:xfrm>
            <a:off x="4334859" y="5116175"/>
            <a:ext cx="70037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>
                <a:solidFill>
                  <a:schemeClr val="bg2"/>
                </a:solidFill>
                <a:latin typeface="Eras Demi ITC" panose="020B0805030504020804" pitchFamily="34" charset="0"/>
              </a:rPr>
              <a:t>M S MUKILAN</a:t>
            </a:r>
          </a:p>
          <a:p>
            <a:pPr algn="r"/>
            <a:r>
              <a:rPr lang="en-IN" sz="2000" b="1" dirty="0">
                <a:solidFill>
                  <a:schemeClr val="bg2"/>
                </a:solidFill>
                <a:latin typeface="Eras Demi ITC" panose="020B0805030504020804" pitchFamily="34" charset="0"/>
              </a:rPr>
              <a:t>192412071</a:t>
            </a:r>
          </a:p>
          <a:p>
            <a:pPr algn="r"/>
            <a:r>
              <a:rPr lang="en-IN" sz="2000" b="1" dirty="0">
                <a:solidFill>
                  <a:schemeClr val="bg2"/>
                </a:solidFill>
                <a:latin typeface="Eras Demi ITC" panose="020B0805030504020804" pitchFamily="34" charset="0"/>
              </a:rPr>
              <a:t>ITA0609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 ·  5 MARKS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Learning &amp; Hypothesis Representation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 Learning Task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task of automatically inferring a general boolean-valued function (a target concept) from a set of labeled training examples.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example is described by attributes and labeled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learner searches a hypothesis space for a hypothesis that fits both training and future instances.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EnjoySport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from Sky, AirTemp, Humidity, Wind, Water, Forecast, whether a friend enjoys a water sport (Yes/No).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8952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219456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2816352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0" y="28163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AirTemp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343814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0" y="34381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4059936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0" y="40599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43800" y="530352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0" y="46817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530352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0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in Machine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theoretical basis for supervised learning and classification tasks.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7512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751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35240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Search-Based 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3524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learning as searching a hypothesis space for the best-fitting hypothesis.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 for Advanced Algorithms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4617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generalization and specialization underlie decision trees and rule induction.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75120" y="4160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7512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3524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Extraction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35240" y="4617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labeled examples into an explicit, human-interpretable rule.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Representation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h is a conjunction of constraints on the instance attributes: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 = Sunny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must exactly match this value.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3A4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(don't care)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AirTemp = 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of the attribute is acceptable.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5B64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5496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 (no value)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96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 = 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9640" y="3063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hypothesis rejects every instance.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18520" cy="9144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Warm, ?, Strong, ?, ?⟩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positive whenever Sky=Sunny, AirTemp=Warm, Wind=Strong (others don't matter).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general: </a:t>
            </a: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⟨?,?,?,?,?,?⟩ 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positive       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specific: </a:t>
            </a: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⟨∅,∅,∅,∅,∅,∅⟩ 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negative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&amp; 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Hypotheses &amp; General-to-Specific Ordering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 Hypothesis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Consistent: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correctly classifies a training example — positives satisfy h, negatives do not.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fit: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must be consistent with every training example.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judged by correct predictions on unseen instances, not just training data.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→ Specific Lattice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4937760"/>
            <a:ext cx="3383280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554480" y="49377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⟨?,?,?,?,?,?⟩  most general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5321808"/>
            <a:ext cx="0" cy="320040"/>
          </a:xfrm>
          <a:prstGeom prst="line">
            <a:avLst/>
          </a:prstGeom>
          <a:noFill/>
          <a:ln w="19050">
            <a:solidFill>
              <a:srgbClr val="5B64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737360" y="5669280"/>
            <a:ext cx="3017520" cy="365760"/>
          </a:xfrm>
          <a:prstGeom prst="roundRect">
            <a:avLst>
              <a:gd name="adj" fmla="val 125000"/>
            </a:avLst>
          </a:prstGeom>
          <a:solidFill>
            <a:srgbClr val="3A4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737360" y="5669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Warm, ?, Strong, ?, ?⟩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General-to-Specific Ordering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≥g h2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(h1 is more general than or equal to h2) if every instance satisfying h2 also satisfies h1.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063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relation is reflexive, antisymmetric and transitive — a partial order that structures the hypothesis space as a lattice.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977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a learner navigate the space systematically — generalizing (moving up) or specializing (moving down) — without enumerating every hypothesis.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5074920"/>
            <a:ext cx="4937760" cy="0"/>
          </a:xfrm>
          <a:prstGeom prst="line">
            <a:avLst/>
          </a:prstGeom>
          <a:noFill/>
          <a:ln w="12700">
            <a:solidFill>
              <a:srgbClr val="F2B134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training examples: positives → generalize; negatives → specialize.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Training Examples in Refining Hypotheses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Example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hypothesis to become MORE GENERAL, so that it also covers the new positive instance.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023360"/>
            <a:ext cx="47091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F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generalize just enough to include the new example.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6092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Example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hypothesis to become MORE SPECIFIC, so that it no longer covers the new negative instance.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4023360"/>
            <a:ext cx="47091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4160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specialize just enough to exclude the new example.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repeatedly generalizing on positives and specializing on negatives, the learner incrementally refines its hypothesis until it converges to one consistent with all data seen so far.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Insights: Classification &amp; Knowledge Extraction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18520" cy="128016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737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hypothesis acts as a classifier — given a new instance, it predicts positive or negative membership in the target concept.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18520" cy="1280160"/>
          </a:xfrm>
          <a:prstGeom prst="roundRect">
            <a:avLst>
              <a:gd name="adj" fmla="val 5714"/>
            </a:avLst>
          </a:prstGeom>
          <a:solidFill>
            <a:srgbClr val="EDEF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246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Extraction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hypothesis is a compact, interpretable rule — turning raw labeled examples into explicit, reusable domain knowledge.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18520" cy="128016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47548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&amp; Limitations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7548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hypotheses to conjunctions reveals the importance of representational bias — some concepts (e.g., disjunctive) can't be expressed, motivating richer representations.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 ·  5 MARKS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Spaces &amp; Candidate Elimination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Version Space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309360" cy="4572000"/>
          </a:xfrm>
          <a:prstGeom prst="roundRect">
            <a:avLst>
              <a:gd name="adj" fmla="val 1600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VS(H, D)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subset of all hypotheses in H that are consistent with all training examples in 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one hypothesis, it represents EVERY hypothesis that could still be the correct target concept, given the data seen so far.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more examples arrive, inconsistent hypotheses are eliminated and the version space shrinks — ideally converging to a single hypothesis.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074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every hypothesis is infeasible — so it's represented compactly via its two extreme boundaries: S and 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1508760"/>
            <a:ext cx="4480560" cy="457200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5236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 Shrinks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2194560"/>
            <a:ext cx="3931920" cy="502920"/>
          </a:xfrm>
          <a:prstGeom prst="roundRect">
            <a:avLst>
              <a:gd name="adj" fmla="val 54545"/>
            </a:avLst>
          </a:prstGeom>
          <a:solidFill>
            <a:srgbClr val="3A4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5236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0 examples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2971800"/>
            <a:ext cx="3017520" cy="502920"/>
          </a:xfrm>
          <a:prstGeom prst="roundRect">
            <a:avLst>
              <a:gd name="adj" fmla="val 54545"/>
            </a:avLst>
          </a:prstGeom>
          <a:solidFill>
            <a:srgbClr val="3A4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09560" y="2971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 example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3749040"/>
            <a:ext cx="1920240" cy="502920"/>
          </a:xfrm>
          <a:prstGeom prst="roundRect">
            <a:avLst>
              <a:gd name="adj" fmla="val 54545"/>
            </a:avLst>
          </a:prstGeom>
          <a:solidFill>
            <a:srgbClr val="3A4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5820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examples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4526280"/>
            <a:ext cx="1005840" cy="502920"/>
          </a:xfrm>
          <a:prstGeom prst="roundRect">
            <a:avLst>
              <a:gd name="adj" fmla="val 54545"/>
            </a:avLst>
          </a:prstGeom>
          <a:solidFill>
            <a:srgbClr val="F2B1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915400" y="45262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(S) and General (G) Boundaries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3A4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— Specific Boundary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most specific hypotheses in H consistent with the data. Each member covers as few instances as possible while still classifying all positive examples correctly.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— General Boundary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most general hypotheses in H consistent with the data. Each member covers as many instances as possible while still excluding all negative examples.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101852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S and G bound the version space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hypothesis in the version space lies between some member of S and some member of G in the general-to-specific ordering. Every hypothesis consistent with the data lies in this S-to-G interval — guaranteed by the Version Space Representation Theorem.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Candidate Elimination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version space incrementally by maintaining and updating S and G as each training example arrives.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18520" cy="1371600"/>
          </a:xfrm>
          <a:prstGeom prst="roundRect">
            <a:avLst>
              <a:gd name="adj" fmla="val 5333"/>
            </a:avLst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← { most specific hypothesis in H }   e.g.  ⟨∅, ∅, ∅, ∅, ∅, ∅⟩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← { most general hypothesis in H }   e.g.  ⟨?, ?, ?, ?, ?, ?⟩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training example, S and G are updated as follows: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Example  →  see next slide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F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S; prune 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4652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Example  →  see next slide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4846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G; prune 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on a Positive Training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5544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G any hypothesis inconsistent with the new positive example (does not cover it).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78892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 in S that doesn't cover the example, remove s and add all minimal generalizations of s that (a) cover the example and (b) are more specific than some hypothesis in 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402336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63040" y="402336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 any hypothesis more general than another hypothesis already in S — keep only the most specific ones.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positive example shows S may be too narrow — generalize S just enough to include it; drop any G hypothesis that wrongly excludes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on a Negative Training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5544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 any hypothesis inconsistent with the new negative example (incorrectly covers it).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78892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 in G that covers the negative example, remove g and add all minimal specializations of g that (a) exclude the example and (b) are more general than some hypothesis in 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402336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63040" y="402336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G any hypothesis more specific than another hypothesis already in G — keep only the most general ones.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negative example shows G may be too broad — specialize G just enough to exclude it; drop any S hypothesis that wrongly covers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&amp; Significance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12880" y="-548640"/>
            <a:ext cx="1828800" cy="1828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generalized and G is specialized until, with enough noise-free examples, both converge to the same single hypothesis — the target concept.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DEF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75120" y="17556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1945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only boundary sets S and G (not every hypothesis) represents the whole version space compactly and updates it incrementally.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0873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New Instances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unseen instance is classified confidently if all hypotheses in the version space agree; otherwise it's ambiguous, guiding the choice of further examples.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DEF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675120" y="40873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45262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noise-free data and that H contains the true target concept; noisy data can collapse S and G to an empty version space.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concept learning to candidate elimination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 frames classification as a search over a hypothesis space; the general-to-specific ordering and version spaces — maintained via the S and G boundaries in Candidate Elimination — make that search efficient and interpretable.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1425</Words>
  <Application>Microsoft Office PowerPoint</Application>
  <PresentationFormat>Widescreen</PresentationFormat>
  <Paragraphs>178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Eras Bold ITC</vt:lpstr>
      <vt:lpstr>Eras Demi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MsM GoD</cp:lastModifiedBy>
  <cp:revision>1</cp:revision>
  <dcterms:created xsi:type="dcterms:W3CDTF">2026-07-25T20:32:12Z</dcterms:created>
  <dcterms:modified xsi:type="dcterms:W3CDTF">2026-07-29T04:43:36Z</dcterms:modified>
</cp:coreProperties>
</file>